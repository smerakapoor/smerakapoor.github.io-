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Newsreader"/>
      <p:regular r:id="rId15"/>
      <p:bold r:id="rId16"/>
      <p:italic r:id="rId17"/>
      <p:boldItalic r:id="rId18"/>
    </p:embeddedFont>
    <p:embeddedFont>
      <p:font typeface="DM Sans Light"/>
      <p:regular r:id="rId19"/>
      <p:bold r:id="rId20"/>
      <p:italic r:id="rId21"/>
      <p:boldItalic r:id="rId22"/>
    </p:embeddedFont>
    <p:embeddedFont>
      <p:font typeface="DM Sans SemiBold"/>
      <p:regular r:id="rId23"/>
      <p:bold r:id="rId24"/>
      <p:italic r:id="rId25"/>
      <p:boldItalic r:id="rId26"/>
    </p:embeddedFont>
    <p:embeddedFont>
      <p:font typeface="DM Sans"/>
      <p:regular r:id="rId27"/>
      <p:bold r:id="rId28"/>
      <p:italic r:id="rId29"/>
      <p:boldItalic r:id="rId30"/>
    </p:embeddedFont>
    <p:embeddedFont>
      <p:font typeface="Newsreader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ewsreaderSemiBold-regular.fntdata"/><Relationship Id="rId30" Type="http://schemas.openxmlformats.org/officeDocument/2006/relationships/font" Target="fonts/DMSans-boldItalic.fntdata"/><Relationship Id="rId33" Type="http://schemas.openxmlformats.org/officeDocument/2006/relationships/font" Target="fonts/NewsreaderSemiBold-italic.fntdata"/><Relationship Id="rId32" Type="http://schemas.openxmlformats.org/officeDocument/2006/relationships/font" Target="fonts/NewsreaderSemiBold-bold.fntdata"/><Relationship Id="rId34" Type="http://schemas.openxmlformats.org/officeDocument/2006/relationships/font" Target="fonts/NewsreaderSemiBold-boldItalic.fntdata"/><Relationship Id="rId20" Type="http://schemas.openxmlformats.org/officeDocument/2006/relationships/font" Target="fonts/DMSansLight-bold.fntdata"/><Relationship Id="rId22" Type="http://schemas.openxmlformats.org/officeDocument/2006/relationships/font" Target="fonts/DMSansLight-boldItalic.fntdata"/><Relationship Id="rId21" Type="http://schemas.openxmlformats.org/officeDocument/2006/relationships/font" Target="fonts/DMSansLight-italic.fntdata"/><Relationship Id="rId24" Type="http://schemas.openxmlformats.org/officeDocument/2006/relationships/font" Target="fonts/DMSansSemiBold-bold.fntdata"/><Relationship Id="rId23" Type="http://schemas.openxmlformats.org/officeDocument/2006/relationships/font" Target="fonts/DMSansSemiBold-regular.fntdata"/><Relationship Id="rId26" Type="http://schemas.openxmlformats.org/officeDocument/2006/relationships/font" Target="fonts/DMSansSemiBold-boldItalic.fntdata"/><Relationship Id="rId25" Type="http://schemas.openxmlformats.org/officeDocument/2006/relationships/font" Target="fonts/DMSansSemiBold-italic.fntdata"/><Relationship Id="rId28" Type="http://schemas.openxmlformats.org/officeDocument/2006/relationships/font" Target="fonts/DMSans-bold.fntdata"/><Relationship Id="rId27" Type="http://schemas.openxmlformats.org/officeDocument/2006/relationships/font" Target="fonts/DMSans-regular.fntdata"/><Relationship Id="rId29" Type="http://schemas.openxmlformats.org/officeDocument/2006/relationships/font" Target="fonts/DM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Newsreader-regular.fntdata"/><Relationship Id="rId14" Type="http://schemas.openxmlformats.org/officeDocument/2006/relationships/slide" Target="slides/slide8.xml"/><Relationship Id="rId17" Type="http://schemas.openxmlformats.org/officeDocument/2006/relationships/font" Target="fonts/Newsreader-italic.fntdata"/><Relationship Id="rId16" Type="http://schemas.openxmlformats.org/officeDocument/2006/relationships/font" Target="fonts/Newsreader-bold.fntdata"/><Relationship Id="rId19" Type="http://schemas.openxmlformats.org/officeDocument/2006/relationships/font" Target="fonts/DMSansLight-regular.fntdata"/><Relationship Id="rId18" Type="http://schemas.openxmlformats.org/officeDocument/2006/relationships/font" Target="fonts/Newsread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73e01b1dd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973e01b1dd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976a435b1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976a435b1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976a435b1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976a435b1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Short-Term Tradeoffs: Higher sourcing and operational costs; Reduced flexibility due to cost restraints. </a:t>
            </a:r>
            <a:endParaRPr/>
          </a:p>
          <a:p>
            <a:pPr indent="0" lvl="0" marL="0" rtl="0" algn="l">
              <a:spcBef>
                <a:spcPts val="0"/>
              </a:spcBef>
              <a:spcAft>
                <a:spcPts val="0"/>
              </a:spcAft>
              <a:buNone/>
            </a:pPr>
            <a:r>
              <a:rPr lang="en"/>
              <a:t>Long-Term Benefits: Increased brand reputation and trust (90% of consumers more likely to support a company who has strong CSR measures); Risk mitigation &amp; better </a:t>
            </a:r>
            <a:r>
              <a:rPr lang="en"/>
              <a:t>compliance</a:t>
            </a:r>
            <a:r>
              <a:rPr lang="en"/>
              <a:t> with regulations; Consumer demand for ethical products (80% would pay more for ethically-produced products); Sustainable initatives in the supply chain can reduce costs up to 16%. </a:t>
            </a:r>
            <a:endParaRPr/>
          </a:p>
          <a:p>
            <a:pPr indent="0" lvl="0" marL="0" rtl="0" algn="l">
              <a:spcBef>
                <a:spcPts val="0"/>
              </a:spcBef>
              <a:spcAft>
                <a:spcPts val="0"/>
              </a:spcAft>
              <a:buNone/>
            </a:pPr>
            <a:r>
              <a:rPr lang="en">
                <a:solidFill>
                  <a:schemeClr val="dk1"/>
                </a:solidFill>
              </a:rPr>
              <a:t>Overall: Increases upfront supply chain costs but can create long-term financial and strategic advantages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976a435b1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976a435b1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Vodafone has achieved their 2025 target of collecting 1 million used phones collected for refurbishment, reuse, recycling, or donation to social causes. Also achieved their goals of 100% of their decommissioned network equipment was reused, resold, or sent for recycling.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976a435b1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976a435b1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8b710370a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8b710370a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“The apparel industry creates about 10% of global carbon emissions, so Nike’s changes have a big impact at scale.” </a:t>
            </a:r>
            <a:endParaRPr/>
          </a:p>
          <a:p>
            <a:pPr indent="0" lvl="0" marL="0" rtl="0" algn="l">
              <a:spcBef>
                <a:spcPts val="0"/>
              </a:spcBef>
              <a:spcAft>
                <a:spcPts val="0"/>
              </a:spcAft>
              <a:buNone/>
            </a:pPr>
            <a:r>
              <a:rPr lang="en"/>
              <a:t>•	“Closed-loop systems also protect companies from future raw material shortages.” </a:t>
            </a:r>
            <a:endParaRPr/>
          </a:p>
          <a:p>
            <a:pPr indent="0" lvl="0" marL="0" rtl="0" algn="l">
              <a:spcBef>
                <a:spcPts val="0"/>
              </a:spcBef>
              <a:spcAft>
                <a:spcPts val="0"/>
              </a:spcAft>
              <a:buNone/>
            </a:pPr>
            <a:r>
              <a:rPr lang="en"/>
              <a:t>•	Water is outpacing population growth, and over the next decade, water demand will exceed the general population growth 4 to 1, implying two-thirds of the world’s population could be living in water-stressed areas [8].  The Color Dry investment marks Nike’s strong commitment to taking a future outlook and reducing its reliance on constrained resources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973e01b1dd_0_2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973e01b1dd_0_2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balancing people, planet, and profit, Unilever achieves lower total supply chain costs—also known as TCO (Total Cost of Ownership)—while reducing its carbon footprint and building a more ethical and resilient supply chain.</a:t>
            </a:r>
            <a:endParaRPr/>
          </a:p>
          <a:p>
            <a:pPr indent="0" lvl="0" marL="0" rtl="0" algn="l">
              <a:spcBef>
                <a:spcPts val="0"/>
              </a:spcBef>
              <a:spcAft>
                <a:spcPts val="0"/>
              </a:spcAft>
              <a:buNone/>
            </a:pPr>
            <a:r>
              <a:rPr lang="en"/>
              <a:t>However, it’s important to note a key challenge:</a:t>
            </a:r>
            <a:endParaRPr/>
          </a:p>
          <a:p>
            <a:pPr indent="0" lvl="0" marL="0" rtl="0" algn="l">
              <a:spcBef>
                <a:spcPts val="0"/>
              </a:spcBef>
              <a:spcAft>
                <a:spcPts val="0"/>
              </a:spcAft>
              <a:buNone/>
            </a:pPr>
            <a:r>
              <a:rPr lang="en"/>
              <a:t>Unilever has recently faced pressure from investors to improve financial performance, leading the company to scale back or delay some sustainability targets. This highlights a real-world challenge—balancing CSR with profitability is not always easy in practice.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976a435b1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976a435b1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lose-up of a modern glass structure. " id="513" name="Google Shape;513;p67"/>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514" name="Google Shape;514;p67"/>
          <p:cNvSpPr txBox="1"/>
          <p:nvPr>
            <p:ph type="title"/>
          </p:nvPr>
        </p:nvSpPr>
        <p:spPr>
          <a:xfrm>
            <a:off x="57175" y="1066100"/>
            <a:ext cx="4469700" cy="28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100">
                <a:latin typeface="DM Sans"/>
                <a:ea typeface="DM Sans"/>
                <a:cs typeface="DM Sans"/>
                <a:sym typeface="DM Sans"/>
              </a:rPr>
              <a:t>Balancing Social Responsibility and Supply Chain Costs</a:t>
            </a:r>
            <a:endParaRPr b="1" sz="4100">
              <a:latin typeface="DM Sans"/>
              <a:ea typeface="DM Sans"/>
              <a:cs typeface="DM Sans"/>
              <a:sym typeface="DM Sans"/>
            </a:endParaRPr>
          </a:p>
        </p:txBody>
      </p:sp>
      <p:sp>
        <p:nvSpPr>
          <p:cNvPr id="515" name="Google Shape;515;p67"/>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700">
                <a:latin typeface="Newsreader"/>
                <a:ea typeface="Newsreader"/>
                <a:cs typeface="Newsreader"/>
                <a:sym typeface="Newsreader"/>
              </a:rPr>
              <a:t>Intro to Supply Chain Management</a:t>
            </a:r>
            <a:endParaRPr b="1" sz="1700">
              <a:latin typeface="Newsreader"/>
              <a:ea typeface="Newsreader"/>
              <a:cs typeface="Newsreader"/>
              <a:sym typeface="Newsreader"/>
            </a:endParaRPr>
          </a:p>
        </p:txBody>
      </p:sp>
      <p:sp>
        <p:nvSpPr>
          <p:cNvPr id="516" name="Google Shape;516;p67"/>
          <p:cNvSpPr txBox="1"/>
          <p:nvPr>
            <p:ph idx="3" type="body"/>
          </p:nvPr>
        </p:nvSpPr>
        <p:spPr>
          <a:xfrm>
            <a:off x="279600" y="3755225"/>
            <a:ext cx="4075200" cy="909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700">
                <a:latin typeface="Newsreader"/>
                <a:ea typeface="Newsreader"/>
                <a:cs typeface="Newsreader"/>
                <a:sym typeface="Newsreader"/>
              </a:rPr>
              <a:t>Group 9:</a:t>
            </a:r>
            <a:endParaRPr b="1" sz="1700">
              <a:latin typeface="Newsreader"/>
              <a:ea typeface="Newsreader"/>
              <a:cs typeface="Newsreader"/>
              <a:sym typeface="Newsreader"/>
            </a:endParaRPr>
          </a:p>
          <a:p>
            <a:pPr indent="0" lvl="0" marL="0" rtl="0" algn="l">
              <a:spcBef>
                <a:spcPts val="0"/>
              </a:spcBef>
              <a:spcAft>
                <a:spcPts val="0"/>
              </a:spcAft>
              <a:buNone/>
            </a:pPr>
            <a:r>
              <a:rPr b="1" lang="en" sz="1700">
                <a:latin typeface="Newsreader"/>
                <a:ea typeface="Newsreader"/>
                <a:cs typeface="Newsreader"/>
                <a:sym typeface="Newsreader"/>
              </a:rPr>
              <a:t>Junaid Jawad, Isaac Kakiko, Ashley Kankam, Smera Kapoor, Laney Keates </a:t>
            </a:r>
            <a:endParaRPr b="1" sz="1700">
              <a:latin typeface="Newsreader"/>
              <a:ea typeface="Newsreader"/>
              <a:cs typeface="Newsreader"/>
              <a:sym typeface="Newsread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4"/>
                                        </p:tgtEl>
                                        <p:attrNameLst>
                                          <p:attrName>style.visibility</p:attrName>
                                        </p:attrNameLst>
                                      </p:cBhvr>
                                      <p:to>
                                        <p:strVal val="visible"/>
                                      </p:to>
                                    </p:set>
                                    <p:anim calcmode="lin" valueType="num">
                                      <p:cBhvr additive="base">
                                        <p:cTn dur="1000"/>
                                        <p:tgtEl>
                                          <p:spTgt spid="51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68" title="CSR pic.jpeg"/>
          <p:cNvPicPr preferRelativeResize="0"/>
          <p:nvPr>
            <p:ph idx="2" type="pic"/>
          </p:nvPr>
        </p:nvPicPr>
        <p:blipFill rotWithShape="1">
          <a:blip r:embed="rId3">
            <a:alphaModFix/>
          </a:blip>
          <a:srcRect b="0" l="15181" r="15181" t="0"/>
          <a:stretch/>
        </p:blipFill>
        <p:spPr>
          <a:xfrm>
            <a:off x="4587725" y="-8750"/>
            <a:ext cx="4572000" cy="5152200"/>
          </a:xfrm>
          <a:prstGeom prst="rect">
            <a:avLst/>
          </a:prstGeom>
        </p:spPr>
      </p:pic>
      <p:sp>
        <p:nvSpPr>
          <p:cNvPr id="522" name="Google Shape;522;p68"/>
          <p:cNvSpPr txBox="1"/>
          <p:nvPr>
            <p:ph type="title"/>
          </p:nvPr>
        </p:nvSpPr>
        <p:spPr>
          <a:xfrm>
            <a:off x="79500" y="309500"/>
            <a:ext cx="4500600" cy="75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t>Social Responsibility in the Context of Supply Chains</a:t>
            </a:r>
            <a:endParaRPr b="1" sz="2300"/>
          </a:p>
        </p:txBody>
      </p:sp>
      <p:sp>
        <p:nvSpPr>
          <p:cNvPr id="523" name="Google Shape;523;p68"/>
          <p:cNvSpPr txBox="1"/>
          <p:nvPr>
            <p:ph idx="1" type="subTitle"/>
          </p:nvPr>
        </p:nvSpPr>
        <p:spPr>
          <a:xfrm>
            <a:off x="361975" y="2571750"/>
            <a:ext cx="3860100" cy="2367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latin typeface="Arial"/>
                <a:ea typeface="Arial"/>
                <a:cs typeface="Arial"/>
                <a:sym typeface="Arial"/>
              </a:rPr>
              <a:t>Ensures suppliers: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Font typeface="Arial"/>
              <a:buChar char="●"/>
            </a:pPr>
            <a:r>
              <a:rPr lang="en" sz="1100">
                <a:latin typeface="Arial"/>
                <a:ea typeface="Arial"/>
                <a:cs typeface="Arial"/>
                <a:sym typeface="Arial"/>
              </a:rPr>
              <a:t>Treat workers </a:t>
            </a:r>
            <a:r>
              <a:rPr b="1" lang="en" sz="1100">
                <a:latin typeface="Arial"/>
                <a:ea typeface="Arial"/>
                <a:cs typeface="Arial"/>
                <a:sym typeface="Arial"/>
              </a:rPr>
              <a:t>fairly</a:t>
            </a:r>
            <a:endParaRPr b="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Provide </a:t>
            </a:r>
            <a:r>
              <a:rPr b="1" lang="en" sz="1100">
                <a:latin typeface="Arial"/>
                <a:ea typeface="Arial"/>
                <a:cs typeface="Arial"/>
                <a:sym typeface="Arial"/>
              </a:rPr>
              <a:t>safe working conditions</a:t>
            </a:r>
            <a:endParaRPr b="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Avoid </a:t>
            </a:r>
            <a:r>
              <a:rPr b="1" lang="en" sz="1100">
                <a:latin typeface="Arial"/>
                <a:ea typeface="Arial"/>
                <a:cs typeface="Arial"/>
                <a:sym typeface="Arial"/>
              </a:rPr>
              <a:t>child labor / unethical practices</a:t>
            </a:r>
            <a:endParaRPr b="1" sz="1100">
              <a:latin typeface="Arial"/>
              <a:ea typeface="Arial"/>
              <a:cs typeface="Arial"/>
              <a:sym typeface="Arial"/>
            </a:endParaRPr>
          </a:p>
          <a:p>
            <a:pPr indent="0" lvl="0" marL="0" rtl="0" algn="l">
              <a:lnSpc>
                <a:spcPct val="115000"/>
              </a:lnSpc>
              <a:spcBef>
                <a:spcPts val="1200"/>
              </a:spcBef>
              <a:spcAft>
                <a:spcPts val="0"/>
              </a:spcAft>
              <a:buNone/>
            </a:pPr>
            <a:r>
              <a:rPr lang="en" sz="1100">
                <a:latin typeface="Arial"/>
                <a:ea typeface="Arial"/>
                <a:cs typeface="Arial"/>
                <a:sym typeface="Arial"/>
              </a:rPr>
              <a:t>Includes </a:t>
            </a:r>
            <a:r>
              <a:rPr b="1" lang="en" sz="1100">
                <a:latin typeface="Arial"/>
                <a:ea typeface="Arial"/>
                <a:cs typeface="Arial"/>
                <a:sym typeface="Arial"/>
              </a:rPr>
              <a:t>environmental responsibility</a:t>
            </a:r>
            <a:r>
              <a:rPr lang="en"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Font typeface="Arial"/>
              <a:buChar char="●"/>
            </a:pPr>
            <a:r>
              <a:rPr lang="en" sz="1100">
                <a:latin typeface="Arial"/>
                <a:ea typeface="Arial"/>
                <a:cs typeface="Arial"/>
                <a:sym typeface="Arial"/>
              </a:rPr>
              <a:t>Reduce waste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Use sustainable materials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Lower environmental impact</a:t>
            </a:r>
            <a:endParaRPr b="1" sz="1100">
              <a:latin typeface="Arial"/>
              <a:ea typeface="Arial"/>
              <a:cs typeface="Arial"/>
              <a:sym typeface="Arial"/>
            </a:endParaRPr>
          </a:p>
          <a:p>
            <a:pPr indent="0" lvl="0" marL="0" rtl="0" algn="ctr">
              <a:spcBef>
                <a:spcPts val="1200"/>
              </a:spcBef>
              <a:spcAft>
                <a:spcPts val="0"/>
              </a:spcAft>
              <a:buNone/>
            </a:pPr>
            <a:r>
              <a:t/>
            </a:r>
            <a:endParaRPr/>
          </a:p>
        </p:txBody>
      </p:sp>
      <p:sp>
        <p:nvSpPr>
          <p:cNvPr id="524" name="Google Shape;524;p68"/>
          <p:cNvSpPr txBox="1"/>
          <p:nvPr/>
        </p:nvSpPr>
        <p:spPr>
          <a:xfrm>
            <a:off x="223875" y="1125750"/>
            <a:ext cx="3792300" cy="15393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b="1" lang="en" sz="1100">
                <a:solidFill>
                  <a:schemeClr val="dk1"/>
                </a:solidFill>
              </a:rPr>
              <a:t>Corporate Social Responsibility (CSR)</a:t>
            </a:r>
            <a:r>
              <a:rPr lang="en" sz="1100">
                <a:solidFill>
                  <a:schemeClr val="dk1"/>
                </a:solidFill>
              </a:rPr>
              <a:t> = companies act ethically </a:t>
            </a:r>
            <a:r>
              <a:rPr b="1" lang="en" sz="1100">
                <a:solidFill>
                  <a:schemeClr val="dk1"/>
                </a:solidFill>
              </a:rPr>
              <a:t>and</a:t>
            </a:r>
            <a:r>
              <a:rPr lang="en" sz="1100">
                <a:solidFill>
                  <a:schemeClr val="dk1"/>
                </a:solidFill>
              </a:rPr>
              <a:t> contribute to society</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Focuses on </a:t>
            </a:r>
            <a:r>
              <a:rPr b="1" lang="en" sz="1100">
                <a:solidFill>
                  <a:schemeClr val="dk1"/>
                </a:solidFill>
              </a:rPr>
              <a:t>ethical behavior + social impact</a:t>
            </a:r>
            <a:r>
              <a:rPr lang="en" sz="1100">
                <a:solidFill>
                  <a:schemeClr val="dk1"/>
                </a:solidFill>
              </a:rPr>
              <a:t>, not just profit</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Applies to </a:t>
            </a:r>
            <a:r>
              <a:rPr b="1" lang="en" sz="1100">
                <a:solidFill>
                  <a:schemeClr val="dk1"/>
                </a:solidFill>
              </a:rPr>
              <a:t>entire supply chain</a:t>
            </a:r>
            <a:r>
              <a:rPr lang="en" sz="1100">
                <a:solidFill>
                  <a:schemeClr val="dk1"/>
                </a:solidFill>
              </a:rPr>
              <a:t>, not just the company</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9"/>
          <p:cNvSpPr txBox="1"/>
          <p:nvPr>
            <p:ph type="title"/>
          </p:nvPr>
        </p:nvSpPr>
        <p:spPr>
          <a:xfrm>
            <a:off x="451050" y="1192225"/>
            <a:ext cx="8325600" cy="3951300"/>
          </a:xfrm>
          <a:prstGeom prst="rect">
            <a:avLst/>
          </a:prstGeom>
        </p:spPr>
        <p:txBody>
          <a:bodyPr anchorCtr="0" anchor="t" bIns="0" lIns="0" spcFirstLastPara="1" rIns="0" wrap="square" tIns="0">
            <a:noAutofit/>
          </a:bodyPr>
          <a:lstStyle/>
          <a:p>
            <a:pPr indent="-342900" lvl="0" marL="457200" rtl="0" algn="l">
              <a:lnSpc>
                <a:spcPct val="115000"/>
              </a:lnSpc>
              <a:spcBef>
                <a:spcPts val="0"/>
              </a:spcBef>
              <a:spcAft>
                <a:spcPts val="0"/>
              </a:spcAft>
              <a:buClr>
                <a:schemeClr val="dk1"/>
              </a:buClr>
              <a:buSzPts val="1800"/>
              <a:buChar char="●"/>
            </a:pPr>
            <a:r>
              <a:rPr lang="en" sz="1800"/>
              <a:t>Socially responsible supply chain practices, such as fair wages &amp; sustainability involve higher upfront costs. </a:t>
            </a:r>
            <a:endParaRPr sz="1800"/>
          </a:p>
          <a:p>
            <a:pPr indent="0" lvl="0" marL="914400" rtl="0" algn="l">
              <a:lnSpc>
                <a:spcPct val="115000"/>
              </a:lnSpc>
              <a:spcBef>
                <a:spcPts val="0"/>
              </a:spcBef>
              <a:spcAft>
                <a:spcPts val="0"/>
              </a:spcAft>
              <a:buNone/>
            </a:pPr>
            <a:r>
              <a:rPr b="1" lang="en" sz="1800"/>
              <a:t>1. Higher Sourcing Costs: </a:t>
            </a:r>
            <a:r>
              <a:rPr lang="en" sz="1800"/>
              <a:t>Fair wages for workers; S</a:t>
            </a:r>
            <a:r>
              <a:rPr lang="en" sz="1800"/>
              <a:t>ourcing</a:t>
            </a:r>
            <a:r>
              <a:rPr lang="en" sz="1800"/>
              <a:t> sustainable/raw </a:t>
            </a:r>
            <a:r>
              <a:rPr lang="en" sz="1800"/>
              <a:t>certified</a:t>
            </a:r>
            <a:r>
              <a:rPr lang="en" sz="1800"/>
              <a:t> material </a:t>
            </a:r>
            <a:endParaRPr sz="1800"/>
          </a:p>
          <a:p>
            <a:pPr indent="0" lvl="0" marL="914400" rtl="0" algn="l">
              <a:lnSpc>
                <a:spcPct val="115000"/>
              </a:lnSpc>
              <a:spcBef>
                <a:spcPts val="0"/>
              </a:spcBef>
              <a:spcAft>
                <a:spcPts val="0"/>
              </a:spcAft>
              <a:buNone/>
            </a:pPr>
            <a:r>
              <a:rPr b="1" lang="en" sz="1800"/>
              <a:t>2. Higher Production Costs: </a:t>
            </a:r>
            <a:r>
              <a:rPr lang="en" sz="1800"/>
              <a:t>Safer &amp; healthier working conditions; Continuing to adopt </a:t>
            </a:r>
            <a:r>
              <a:rPr lang="en" sz="1800"/>
              <a:t>sustainable</a:t>
            </a:r>
            <a:r>
              <a:rPr lang="en" sz="1800"/>
              <a:t> practices; Remaining in compliance with environmental regulations</a:t>
            </a:r>
            <a:endParaRPr sz="1800"/>
          </a:p>
          <a:p>
            <a:pPr indent="0" lvl="0" marL="914400" rtl="0" algn="l">
              <a:lnSpc>
                <a:spcPct val="115000"/>
              </a:lnSpc>
              <a:spcBef>
                <a:spcPts val="0"/>
              </a:spcBef>
              <a:spcAft>
                <a:spcPts val="0"/>
              </a:spcAft>
              <a:buNone/>
            </a:pPr>
            <a:r>
              <a:rPr b="1" lang="en" sz="1800"/>
              <a:t>3. Higher </a:t>
            </a:r>
            <a:r>
              <a:rPr b="1" lang="en" sz="1800"/>
              <a:t>Transportation</a:t>
            </a:r>
            <a:r>
              <a:rPr b="1" lang="en" sz="1800"/>
              <a:t>/Logistics Costs: </a:t>
            </a:r>
            <a:r>
              <a:rPr lang="en" sz="1800"/>
              <a:t>Eco-friendly shipping (low-emission shipping &amp; electric/hybrid vehicles); Reduced packaging. </a:t>
            </a:r>
            <a:endParaRPr sz="1800"/>
          </a:p>
          <a:p>
            <a:pPr indent="0" lvl="0" marL="914400" rtl="0" algn="l">
              <a:lnSpc>
                <a:spcPct val="115000"/>
              </a:lnSpc>
              <a:spcBef>
                <a:spcPts val="0"/>
              </a:spcBef>
              <a:spcAft>
                <a:spcPts val="0"/>
              </a:spcAft>
              <a:buNone/>
            </a:pPr>
            <a:r>
              <a:rPr b="1" lang="en" sz="1800"/>
              <a:t>4. Higher Monitoring Costs: </a:t>
            </a:r>
            <a:r>
              <a:rPr lang="en" sz="1800"/>
              <a:t>Supplier audits, warehouse management systems, real-time data monitoring, inventory analysis. </a:t>
            </a:r>
            <a:endParaRPr sz="1800"/>
          </a:p>
        </p:txBody>
      </p:sp>
      <p:sp>
        <p:nvSpPr>
          <p:cNvPr id="530" name="Google Shape;530;p69"/>
          <p:cNvSpPr txBox="1"/>
          <p:nvPr>
            <p:ph idx="1" type="subTitle"/>
          </p:nvPr>
        </p:nvSpPr>
        <p:spPr>
          <a:xfrm>
            <a:off x="361975" y="217725"/>
            <a:ext cx="8239500" cy="84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2500">
                <a:latin typeface="Newsreader"/>
                <a:ea typeface="Newsreader"/>
                <a:cs typeface="Newsreader"/>
                <a:sym typeface="Newsreader"/>
              </a:rPr>
              <a:t>How Social R</a:t>
            </a:r>
            <a:r>
              <a:rPr b="1" lang="en" sz="2500">
                <a:latin typeface="Newsreader"/>
                <a:ea typeface="Newsreader"/>
                <a:cs typeface="Newsreader"/>
                <a:sym typeface="Newsreader"/>
              </a:rPr>
              <a:t>esponsibility</a:t>
            </a:r>
            <a:r>
              <a:rPr b="1" lang="en" sz="2500">
                <a:latin typeface="Newsreader"/>
                <a:ea typeface="Newsreader"/>
                <a:cs typeface="Newsreader"/>
                <a:sym typeface="Newsreader"/>
              </a:rPr>
              <a:t> Impacts Supply Chain Costs. </a:t>
            </a:r>
            <a:endParaRPr b="1" sz="2500">
              <a:latin typeface="Newsreader"/>
              <a:ea typeface="Newsreader"/>
              <a:cs typeface="Newsreader"/>
              <a:sym typeface="Newsread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0"/>
          <p:cNvSpPr txBox="1"/>
          <p:nvPr>
            <p:ph idx="1" type="subTitle"/>
          </p:nvPr>
        </p:nvSpPr>
        <p:spPr>
          <a:xfrm>
            <a:off x="361975" y="217725"/>
            <a:ext cx="8345100" cy="237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2400">
                <a:latin typeface="Newsreader"/>
                <a:ea typeface="Newsreader"/>
                <a:cs typeface="Newsreader"/>
                <a:sym typeface="Newsreader"/>
              </a:rPr>
              <a:t>Costs of Ethical/Sustainable Practices in the Supply Chain </a:t>
            </a:r>
            <a:endParaRPr b="1" sz="2400">
              <a:latin typeface="Newsreader"/>
              <a:ea typeface="Newsreader"/>
              <a:cs typeface="Newsreader"/>
              <a:sym typeface="Newsreader"/>
            </a:endParaRPr>
          </a:p>
        </p:txBody>
      </p:sp>
      <p:sp>
        <p:nvSpPr>
          <p:cNvPr id="536" name="Google Shape;536;p70"/>
          <p:cNvSpPr txBox="1"/>
          <p:nvPr>
            <p:ph type="title"/>
          </p:nvPr>
        </p:nvSpPr>
        <p:spPr>
          <a:xfrm>
            <a:off x="0" y="2583625"/>
            <a:ext cx="4545000" cy="2385600"/>
          </a:xfrm>
          <a:prstGeom prst="rect">
            <a:avLst/>
          </a:prstGeom>
        </p:spPr>
        <p:txBody>
          <a:bodyPr anchorCtr="0" anchor="t" bIns="0" lIns="0" spcFirstLastPara="1" rIns="0" wrap="square" tIns="0">
            <a:noAutofit/>
          </a:bodyPr>
          <a:lstStyle/>
          <a:p>
            <a:pPr indent="-298450" lvl="0" marL="457200" rtl="0" algn="l">
              <a:spcBef>
                <a:spcPts val="0"/>
              </a:spcBef>
              <a:spcAft>
                <a:spcPts val="0"/>
              </a:spcAft>
              <a:buClr>
                <a:schemeClr val="dk1"/>
              </a:buClr>
              <a:buSzPts val="1100"/>
              <a:buFont typeface="Arial"/>
              <a:buChar char="●"/>
            </a:pPr>
            <a:r>
              <a:rPr b="1" lang="en" sz="1300"/>
              <a:t>Practice: </a:t>
            </a:r>
            <a:r>
              <a:rPr lang="en" sz="1300"/>
              <a:t>Committed to fair/living wages in their supply chain. IKEA works with suppliers </a:t>
            </a:r>
            <a:r>
              <a:rPr lang="en" sz="1300"/>
              <a:t>worldwide</a:t>
            </a:r>
            <a:r>
              <a:rPr lang="en" sz="1300"/>
              <a:t> to ensure living wages </a:t>
            </a:r>
            <a:r>
              <a:rPr lang="en" sz="1300"/>
              <a:t>are </a:t>
            </a:r>
            <a:r>
              <a:rPr lang="en" sz="1300"/>
              <a:t>paid, </a:t>
            </a:r>
            <a:r>
              <a:rPr lang="en" sz="1300"/>
              <a:t>considering</a:t>
            </a:r>
            <a:r>
              <a:rPr lang="en" sz="1300"/>
              <a:t> both local costs of living and </a:t>
            </a:r>
            <a:r>
              <a:rPr lang="en" sz="1300"/>
              <a:t>family</a:t>
            </a:r>
            <a:r>
              <a:rPr lang="en" sz="1300"/>
              <a:t> needs. </a:t>
            </a:r>
            <a:endParaRPr sz="1300"/>
          </a:p>
          <a:p>
            <a:pPr indent="-311150" lvl="0" marL="457200" rtl="0" algn="l">
              <a:spcBef>
                <a:spcPts val="0"/>
              </a:spcBef>
              <a:spcAft>
                <a:spcPts val="0"/>
              </a:spcAft>
              <a:buClr>
                <a:schemeClr val="dk1"/>
              </a:buClr>
              <a:buSzPts val="1300"/>
              <a:buChar char="●"/>
            </a:pPr>
            <a:r>
              <a:rPr b="1" lang="en" sz="1300"/>
              <a:t>Cost Implications: </a:t>
            </a:r>
            <a:r>
              <a:rPr lang="en" sz="1300"/>
              <a:t>Higher supplier and production costs; Monitoring, </a:t>
            </a:r>
            <a:r>
              <a:rPr lang="en" sz="1300"/>
              <a:t>auditing, and compliance tracking </a:t>
            </a:r>
            <a:r>
              <a:rPr lang="en" sz="1300"/>
              <a:t>expenses. </a:t>
            </a:r>
            <a:endParaRPr sz="1300"/>
          </a:p>
          <a:p>
            <a:pPr indent="-311150" lvl="0" marL="457200" rtl="0" algn="l">
              <a:spcBef>
                <a:spcPts val="0"/>
              </a:spcBef>
              <a:spcAft>
                <a:spcPts val="0"/>
              </a:spcAft>
              <a:buClr>
                <a:schemeClr val="dk1"/>
              </a:buClr>
              <a:buSzPts val="1300"/>
              <a:buChar char="●"/>
            </a:pPr>
            <a:r>
              <a:rPr b="1" lang="en" sz="1300"/>
              <a:t>Benefits: </a:t>
            </a:r>
            <a:r>
              <a:rPr lang="en" sz="1300"/>
              <a:t>Stronger brand reputation and trust. Stable supplier relationships leading to efficiency &amp; fewer disruptions. Pay increases for more than 600,000 workers in IKEA’s supply chain, which promotes a more reliable supply chain, </a:t>
            </a:r>
            <a:r>
              <a:rPr lang="en" sz="1300"/>
              <a:t>economic</a:t>
            </a:r>
            <a:r>
              <a:rPr lang="en" sz="1300"/>
              <a:t> stability, and reduces poverty.</a:t>
            </a:r>
            <a:endParaRPr sz="1300"/>
          </a:p>
        </p:txBody>
      </p:sp>
      <p:sp>
        <p:nvSpPr>
          <p:cNvPr id="537" name="Google Shape;537;p70"/>
          <p:cNvSpPr txBox="1"/>
          <p:nvPr>
            <p:ph idx="3" type="subTitle"/>
          </p:nvPr>
        </p:nvSpPr>
        <p:spPr>
          <a:xfrm>
            <a:off x="4618950" y="2801225"/>
            <a:ext cx="4506600" cy="2121900"/>
          </a:xfrm>
          <a:prstGeom prst="rect">
            <a:avLst/>
          </a:prstGeom>
        </p:spPr>
        <p:txBody>
          <a:bodyPr anchorCtr="0" anchor="ctr" bIns="0" lIns="0" spcFirstLastPara="1" rIns="0" wrap="square" tIns="0">
            <a:noAutofit/>
          </a:bodyPr>
          <a:lstStyle/>
          <a:p>
            <a:pPr indent="-311150" lvl="0" marL="457200" rtl="0" algn="l">
              <a:spcBef>
                <a:spcPts val="0"/>
              </a:spcBef>
              <a:spcAft>
                <a:spcPts val="0"/>
              </a:spcAft>
              <a:buClr>
                <a:schemeClr val="dk1"/>
              </a:buClr>
              <a:buSzPts val="1300"/>
              <a:buFont typeface="Arial"/>
              <a:buChar char="●"/>
            </a:pPr>
            <a:r>
              <a:rPr b="1" lang="en" sz="1300">
                <a:latin typeface="Newsreader"/>
                <a:ea typeface="Newsreader"/>
                <a:cs typeface="Newsreader"/>
                <a:sym typeface="Newsreader"/>
              </a:rPr>
              <a:t>Practice: </a:t>
            </a:r>
            <a:r>
              <a:rPr lang="en" sz="1300">
                <a:latin typeface="Newsreader"/>
                <a:ea typeface="Newsreader"/>
                <a:cs typeface="Newsreader"/>
                <a:sym typeface="Newsreader"/>
              </a:rPr>
              <a:t>Have implemented a device recycling program that repairs, resells, and recycles customer’s old devices and used electronic network equipment. </a:t>
            </a:r>
            <a:endParaRPr sz="1300">
              <a:latin typeface="Newsreader"/>
              <a:ea typeface="Newsreader"/>
              <a:cs typeface="Newsreader"/>
              <a:sym typeface="Newsreader"/>
            </a:endParaRPr>
          </a:p>
          <a:p>
            <a:pPr indent="-311150" lvl="0" marL="457200" rtl="0" algn="l">
              <a:spcBef>
                <a:spcPts val="0"/>
              </a:spcBef>
              <a:spcAft>
                <a:spcPts val="0"/>
              </a:spcAft>
              <a:buClr>
                <a:schemeClr val="dk1"/>
              </a:buClr>
              <a:buSzPts val="1300"/>
              <a:buFont typeface="Newsreader"/>
              <a:buChar char="●"/>
            </a:pPr>
            <a:r>
              <a:rPr b="1" lang="en" sz="1300">
                <a:latin typeface="Newsreader"/>
                <a:ea typeface="Newsreader"/>
                <a:cs typeface="Newsreader"/>
                <a:sym typeface="Newsreader"/>
              </a:rPr>
              <a:t>Cost Implications: </a:t>
            </a:r>
            <a:r>
              <a:rPr lang="en" sz="1300">
                <a:latin typeface="Newsreader"/>
                <a:ea typeface="Newsreader"/>
                <a:cs typeface="Newsreader"/>
                <a:sym typeface="Newsreader"/>
              </a:rPr>
              <a:t>Incurs high reverse logistics &amp; transport costs; handling, processing &amp; refurbishment expenses.</a:t>
            </a:r>
            <a:endParaRPr sz="1300">
              <a:latin typeface="Newsreader"/>
              <a:ea typeface="Newsreader"/>
              <a:cs typeface="Newsreader"/>
              <a:sym typeface="Newsreader"/>
            </a:endParaRPr>
          </a:p>
          <a:p>
            <a:pPr indent="-311150" lvl="0" marL="457200" rtl="0" algn="l">
              <a:spcBef>
                <a:spcPts val="0"/>
              </a:spcBef>
              <a:spcAft>
                <a:spcPts val="0"/>
              </a:spcAft>
              <a:buClr>
                <a:schemeClr val="dk1"/>
              </a:buClr>
              <a:buSzPts val="1300"/>
              <a:buFont typeface="Newsreader"/>
              <a:buChar char="●"/>
            </a:pPr>
            <a:r>
              <a:rPr b="1" lang="en" sz="1300">
                <a:latin typeface="Newsreader"/>
                <a:ea typeface="Newsreader"/>
                <a:cs typeface="Newsreader"/>
                <a:sym typeface="Newsreader"/>
              </a:rPr>
              <a:t>Benefits: </a:t>
            </a:r>
            <a:r>
              <a:rPr lang="en" sz="1300">
                <a:latin typeface="Newsreader"/>
                <a:ea typeface="Newsreader"/>
                <a:cs typeface="Newsreader"/>
                <a:sym typeface="Newsreader"/>
              </a:rPr>
              <a:t>Reduced material costs through resource recovery from old phones (silver, gold, copper). Lowered environmental impact (reduced carbon emissions). Increased customer loyalty through trade-in programs &amp; lower cost, high quality refurbished devices. Supports long-term supply chain sustainability. </a:t>
            </a:r>
            <a:endParaRPr sz="1300">
              <a:latin typeface="Newsreader"/>
              <a:ea typeface="Newsreader"/>
              <a:cs typeface="Newsreader"/>
              <a:sym typeface="Newsreader"/>
            </a:endParaRPr>
          </a:p>
          <a:p>
            <a:pPr indent="0" lvl="0" marL="0" rtl="0" algn="l">
              <a:spcBef>
                <a:spcPts val="0"/>
              </a:spcBef>
              <a:spcAft>
                <a:spcPts val="0"/>
              </a:spcAft>
              <a:buNone/>
            </a:pPr>
            <a:r>
              <a:t/>
            </a:r>
            <a:endParaRPr sz="1300">
              <a:latin typeface="Newsreader SemiBold"/>
              <a:ea typeface="Newsreader SemiBold"/>
              <a:cs typeface="Newsreader SemiBold"/>
              <a:sym typeface="Newsreader SemiBold"/>
            </a:endParaRPr>
          </a:p>
        </p:txBody>
      </p:sp>
      <p:pic>
        <p:nvPicPr>
          <p:cNvPr id="538" name="Google Shape;538;p70"/>
          <p:cNvPicPr preferRelativeResize="0"/>
          <p:nvPr/>
        </p:nvPicPr>
        <p:blipFill>
          <a:blip r:embed="rId3">
            <a:alphaModFix/>
          </a:blip>
          <a:stretch>
            <a:fillRect/>
          </a:stretch>
        </p:blipFill>
        <p:spPr>
          <a:xfrm>
            <a:off x="933397" y="893650"/>
            <a:ext cx="3198126" cy="1467875"/>
          </a:xfrm>
          <a:prstGeom prst="rect">
            <a:avLst/>
          </a:prstGeom>
          <a:noFill/>
          <a:ln>
            <a:noFill/>
          </a:ln>
        </p:spPr>
      </p:pic>
      <p:pic>
        <p:nvPicPr>
          <p:cNvPr id="539" name="Google Shape;539;p70"/>
          <p:cNvPicPr preferRelativeResize="0"/>
          <p:nvPr/>
        </p:nvPicPr>
        <p:blipFill>
          <a:blip r:embed="rId4">
            <a:alphaModFix/>
          </a:blip>
          <a:stretch>
            <a:fillRect/>
          </a:stretch>
        </p:blipFill>
        <p:spPr>
          <a:xfrm>
            <a:off x="5818750" y="741275"/>
            <a:ext cx="2599719" cy="16202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1"/>
          <p:cNvSpPr txBox="1"/>
          <p:nvPr>
            <p:ph type="title"/>
          </p:nvPr>
        </p:nvSpPr>
        <p:spPr>
          <a:xfrm>
            <a:off x="1473000" y="125000"/>
            <a:ext cx="6983400" cy="7110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600"/>
              </a:spcAft>
              <a:buNone/>
            </a:pPr>
            <a:r>
              <a:rPr b="1" lang="en" sz="2200"/>
              <a:t>F</a:t>
            </a:r>
            <a:r>
              <a:rPr b="1" lang="en" sz="2200"/>
              <a:t>rameworks for Balancing Cost and Responsibility</a:t>
            </a:r>
            <a:endParaRPr b="1" sz="2200"/>
          </a:p>
        </p:txBody>
      </p:sp>
      <p:sp>
        <p:nvSpPr>
          <p:cNvPr id="545" name="Google Shape;545;p71"/>
          <p:cNvSpPr txBox="1"/>
          <p:nvPr>
            <p:ph idx="3" type="body"/>
          </p:nvPr>
        </p:nvSpPr>
        <p:spPr>
          <a:xfrm>
            <a:off x="501300" y="934950"/>
            <a:ext cx="4070700" cy="1920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sz="1200">
                <a:latin typeface="DM Sans"/>
                <a:ea typeface="DM Sans"/>
                <a:cs typeface="DM Sans"/>
                <a:sym typeface="DM Sans"/>
              </a:rPr>
              <a:t>Triple Bottom Line (TBL) </a:t>
            </a:r>
            <a:br>
              <a:rPr b="1" lang="en" sz="1200">
                <a:latin typeface="DM Sans"/>
                <a:ea typeface="DM Sans"/>
                <a:cs typeface="DM Sans"/>
                <a:sym typeface="DM Sans"/>
              </a:rPr>
            </a:br>
            <a:r>
              <a:rPr b="1" lang="en">
                <a:latin typeface="DM Sans"/>
                <a:ea typeface="DM Sans"/>
                <a:cs typeface="DM Sans"/>
                <a:sym typeface="DM Sans"/>
              </a:rPr>
              <a:t>People | Planet | Profit</a:t>
            </a:r>
            <a:endParaRPr b="1">
              <a:latin typeface="DM Sans"/>
              <a:ea typeface="DM Sans"/>
              <a:cs typeface="DM Sans"/>
              <a:sym typeface="DM Sans"/>
            </a:endParaRPr>
          </a:p>
          <a:p>
            <a:pPr indent="0" lvl="0" marL="0" rtl="0" algn="l">
              <a:spcBef>
                <a:spcPts val="800"/>
              </a:spcBef>
              <a:spcAft>
                <a:spcPts val="0"/>
              </a:spcAft>
              <a:buNone/>
            </a:pPr>
            <a:r>
              <a:rPr lang="en">
                <a:latin typeface="DM Sans"/>
                <a:ea typeface="DM Sans"/>
                <a:cs typeface="DM Sans"/>
                <a:sym typeface="DM Sans"/>
              </a:rPr>
              <a:t>The triple bottom line is a business concept that states firms should commit to measuring their social and environmental impact, n addition to their financial </a:t>
            </a:r>
            <a:r>
              <a:rPr lang="en">
                <a:latin typeface="DM Sans"/>
                <a:ea typeface="DM Sans"/>
                <a:cs typeface="DM Sans"/>
                <a:sym typeface="DM Sans"/>
              </a:rPr>
              <a:t>performance rather</a:t>
            </a:r>
            <a:r>
              <a:rPr lang="en">
                <a:latin typeface="DM Sans"/>
                <a:ea typeface="DM Sans"/>
                <a:cs typeface="DM Sans"/>
                <a:sym typeface="DM Sans"/>
              </a:rPr>
              <a:t> than solely focusing on generating profit, or the standard “bottom line.”</a:t>
            </a:r>
            <a:endParaRPr>
              <a:latin typeface="DM Sans"/>
              <a:ea typeface="DM Sans"/>
              <a:cs typeface="DM Sans"/>
              <a:sym typeface="DM Sans"/>
            </a:endParaRPr>
          </a:p>
          <a:p>
            <a:pPr indent="0" lvl="0" marL="0" rtl="0" algn="l">
              <a:spcBef>
                <a:spcPts val="800"/>
              </a:spcBef>
              <a:spcAft>
                <a:spcPts val="0"/>
              </a:spcAft>
              <a:buNone/>
            </a:pPr>
            <a:r>
              <a:t/>
            </a:r>
            <a:endParaRPr>
              <a:latin typeface="DM Sans"/>
              <a:ea typeface="DM Sans"/>
              <a:cs typeface="DM Sans"/>
              <a:sym typeface="DM Sans"/>
            </a:endParaRPr>
          </a:p>
          <a:p>
            <a:pPr indent="0" lvl="0" marL="0" rtl="0" algn="l">
              <a:spcBef>
                <a:spcPts val="800"/>
              </a:spcBef>
              <a:spcAft>
                <a:spcPts val="800"/>
              </a:spcAft>
              <a:buNone/>
            </a:pPr>
            <a:r>
              <a:t/>
            </a:r>
            <a:endParaRPr>
              <a:latin typeface="DM Sans"/>
              <a:ea typeface="DM Sans"/>
              <a:cs typeface="DM Sans"/>
              <a:sym typeface="DM Sans"/>
            </a:endParaRPr>
          </a:p>
        </p:txBody>
      </p:sp>
      <p:sp>
        <p:nvSpPr>
          <p:cNvPr id="546" name="Google Shape;546;p71"/>
          <p:cNvSpPr txBox="1"/>
          <p:nvPr/>
        </p:nvSpPr>
        <p:spPr>
          <a:xfrm>
            <a:off x="4810500" y="1020750"/>
            <a:ext cx="4070700" cy="144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Circle Economy Framework</a:t>
            </a:r>
            <a:endParaRPr b="1" sz="1200">
              <a:solidFill>
                <a:schemeClr val="dk1"/>
              </a:solidFill>
              <a:latin typeface="DM Sans"/>
              <a:ea typeface="DM Sans"/>
              <a:cs typeface="DM Sans"/>
              <a:sym typeface="DM Sans"/>
            </a:endParaRPr>
          </a:p>
          <a:p>
            <a:pPr indent="0" lvl="0" marL="0" rtl="0" algn="l">
              <a:spcBef>
                <a:spcPts val="0"/>
              </a:spcBef>
              <a:spcAft>
                <a:spcPts val="0"/>
              </a:spcAft>
              <a:buNone/>
            </a:pPr>
            <a:r>
              <a:rPr b="1" lang="en" sz="1000">
                <a:solidFill>
                  <a:schemeClr val="dk1"/>
                </a:solidFill>
                <a:latin typeface="DM Sans"/>
                <a:ea typeface="DM Sans"/>
                <a:cs typeface="DM Sans"/>
                <a:sym typeface="DM Sans"/>
              </a:rPr>
              <a:t>Reduced costs | Optimized resources | Supply chain resilience </a:t>
            </a:r>
            <a:endParaRPr b="1" sz="1000">
              <a:solidFill>
                <a:schemeClr val="dk1"/>
              </a:solidFill>
              <a:latin typeface="DM Sans"/>
              <a:ea typeface="DM Sans"/>
              <a:cs typeface="DM Sans"/>
              <a:sym typeface="DM Sans"/>
            </a:endParaRPr>
          </a:p>
          <a:p>
            <a:pPr indent="0" lvl="0" marL="0" rtl="0" algn="l">
              <a:spcBef>
                <a:spcPts val="0"/>
              </a:spcBef>
              <a:spcAft>
                <a:spcPts val="0"/>
              </a:spcAft>
              <a:buNone/>
            </a:pPr>
            <a:r>
              <a:t/>
            </a:r>
            <a:endParaRPr sz="1000">
              <a:solidFill>
                <a:schemeClr val="dk1"/>
              </a:solidFill>
              <a:latin typeface="DM Sans"/>
              <a:ea typeface="DM Sans"/>
              <a:cs typeface="DM Sans"/>
              <a:sym typeface="DM Sans"/>
            </a:endParaRPr>
          </a:p>
          <a:p>
            <a:pPr indent="0" lvl="0" marL="0" rtl="0" algn="l">
              <a:spcBef>
                <a:spcPts val="0"/>
              </a:spcBef>
              <a:spcAft>
                <a:spcPts val="0"/>
              </a:spcAft>
              <a:buNone/>
            </a:pPr>
            <a:r>
              <a:rPr lang="en" sz="1000">
                <a:solidFill>
                  <a:schemeClr val="dk1"/>
                </a:solidFill>
                <a:latin typeface="DM Sans"/>
                <a:ea typeface="DM Sans"/>
                <a:cs typeface="DM Sans"/>
                <a:sym typeface="DM Sans"/>
              </a:rPr>
              <a:t>The circular economy model emphasizes resource optimization and waste reduction by promoting continuous material reuse and recycling. It involves redesigning products for easy disassembly, using sustainable materials, and collaborating with suppliers committed to circular principles.</a:t>
            </a:r>
            <a:endParaRPr sz="1000">
              <a:solidFill>
                <a:schemeClr val="dk1"/>
              </a:solidFill>
              <a:latin typeface="DM Sans"/>
              <a:ea typeface="DM Sans"/>
              <a:cs typeface="DM Sans"/>
              <a:sym typeface="DM Sans"/>
            </a:endParaRPr>
          </a:p>
        </p:txBody>
      </p:sp>
      <p:sp>
        <p:nvSpPr>
          <p:cNvPr id="547" name="Google Shape;547;p71"/>
          <p:cNvSpPr txBox="1"/>
          <p:nvPr/>
        </p:nvSpPr>
        <p:spPr>
          <a:xfrm>
            <a:off x="501300" y="2571750"/>
            <a:ext cx="4070700" cy="237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ESG Integration Strategy</a:t>
            </a:r>
            <a:endParaRPr b="1" sz="1200">
              <a:solidFill>
                <a:schemeClr val="dk1"/>
              </a:solidFill>
              <a:latin typeface="DM Sans"/>
              <a:ea typeface="DM Sans"/>
              <a:cs typeface="DM Sans"/>
              <a:sym typeface="DM Sans"/>
            </a:endParaRPr>
          </a:p>
          <a:p>
            <a:pPr indent="0" lvl="0" marL="0" rtl="0" algn="l">
              <a:spcBef>
                <a:spcPts val="0"/>
              </a:spcBef>
              <a:spcAft>
                <a:spcPts val="0"/>
              </a:spcAft>
              <a:buNone/>
            </a:pPr>
            <a:r>
              <a:rPr b="1" lang="en" sz="1000">
                <a:solidFill>
                  <a:schemeClr val="dk1"/>
                </a:solidFill>
                <a:latin typeface="DM Sans"/>
                <a:ea typeface="DM Sans"/>
                <a:cs typeface="DM Sans"/>
                <a:sym typeface="DM Sans"/>
              </a:rPr>
              <a:t>Environmental | Social | Governance</a:t>
            </a:r>
            <a:endParaRPr b="1" sz="1000">
              <a:solidFill>
                <a:schemeClr val="dk1"/>
              </a:solidFill>
              <a:latin typeface="DM Sans"/>
              <a:ea typeface="DM Sans"/>
              <a:cs typeface="DM Sans"/>
              <a:sym typeface="DM Sans"/>
            </a:endParaRPr>
          </a:p>
          <a:p>
            <a:pPr indent="0" lvl="0" marL="0" rtl="0" algn="l">
              <a:spcBef>
                <a:spcPts val="0"/>
              </a:spcBef>
              <a:spcAft>
                <a:spcPts val="0"/>
              </a:spcAft>
              <a:buNone/>
            </a:pPr>
            <a:r>
              <a:t/>
            </a:r>
            <a:endParaRPr sz="1000">
              <a:solidFill>
                <a:schemeClr val="dk1"/>
              </a:solidFill>
              <a:latin typeface="DM Sans"/>
              <a:ea typeface="DM Sans"/>
              <a:cs typeface="DM Sans"/>
              <a:sym typeface="DM Sans"/>
            </a:endParaRPr>
          </a:p>
          <a:p>
            <a:pPr indent="-292100" lvl="0" marL="457200" rtl="0" algn="l">
              <a:spcBef>
                <a:spcPts val="0"/>
              </a:spcBef>
              <a:spcAft>
                <a:spcPts val="0"/>
              </a:spcAft>
              <a:buClr>
                <a:schemeClr val="dk1"/>
              </a:buClr>
              <a:buSzPts val="1000"/>
              <a:buFont typeface="DM Sans"/>
              <a:buChar char="●"/>
            </a:pPr>
            <a:r>
              <a:rPr lang="en" sz="1000">
                <a:solidFill>
                  <a:schemeClr val="dk1"/>
                </a:solidFill>
                <a:latin typeface="DM Sans"/>
                <a:ea typeface="DM Sans"/>
                <a:cs typeface="DM Sans"/>
                <a:sym typeface="DM Sans"/>
              </a:rPr>
              <a:t>Environmental: evaluates a company's carbon emissions, energy usage, and waste reduction efforts across the supply chain.</a:t>
            </a:r>
            <a:endParaRPr sz="1000">
              <a:solidFill>
                <a:schemeClr val="dk1"/>
              </a:solidFill>
              <a:latin typeface="DM Sans"/>
              <a:ea typeface="DM Sans"/>
              <a:cs typeface="DM Sans"/>
              <a:sym typeface="DM Sans"/>
            </a:endParaRPr>
          </a:p>
          <a:p>
            <a:pPr indent="-292100" lvl="0" marL="457200" rtl="0" algn="l">
              <a:spcBef>
                <a:spcPts val="0"/>
              </a:spcBef>
              <a:spcAft>
                <a:spcPts val="0"/>
              </a:spcAft>
              <a:buClr>
                <a:schemeClr val="dk1"/>
              </a:buClr>
              <a:buSzPts val="1000"/>
              <a:buFont typeface="DM Sans"/>
              <a:buChar char="●"/>
            </a:pPr>
            <a:r>
              <a:rPr lang="en" sz="1000">
                <a:solidFill>
                  <a:schemeClr val="dk1"/>
                </a:solidFill>
                <a:latin typeface="DM Sans"/>
                <a:ea typeface="DM Sans"/>
                <a:cs typeface="DM Sans"/>
                <a:sym typeface="DM Sans"/>
              </a:rPr>
              <a:t>Social: assesses labor practices, worker safety, fair wages, and supplier working conditions.</a:t>
            </a:r>
            <a:endParaRPr sz="1000">
              <a:solidFill>
                <a:schemeClr val="dk1"/>
              </a:solidFill>
              <a:latin typeface="DM Sans"/>
              <a:ea typeface="DM Sans"/>
              <a:cs typeface="DM Sans"/>
              <a:sym typeface="DM Sans"/>
            </a:endParaRPr>
          </a:p>
          <a:p>
            <a:pPr indent="-292100" lvl="0" marL="457200" rtl="0" algn="l">
              <a:spcBef>
                <a:spcPts val="0"/>
              </a:spcBef>
              <a:spcAft>
                <a:spcPts val="0"/>
              </a:spcAft>
              <a:buClr>
                <a:schemeClr val="dk1"/>
              </a:buClr>
              <a:buSzPts val="1000"/>
              <a:buFont typeface="DM Sans"/>
              <a:buChar char="●"/>
            </a:pPr>
            <a:r>
              <a:rPr lang="en" sz="1000">
                <a:solidFill>
                  <a:schemeClr val="dk1"/>
                </a:solidFill>
                <a:latin typeface="DM Sans"/>
                <a:ea typeface="DM Sans"/>
                <a:cs typeface="DM Sans"/>
                <a:sym typeface="DM Sans"/>
              </a:rPr>
              <a:t>Governance: examines transparency, ethical business conduct, and accountability in decision-making.</a:t>
            </a:r>
            <a:endParaRPr sz="1000">
              <a:solidFill>
                <a:schemeClr val="dk1"/>
              </a:solidFill>
              <a:latin typeface="DM Sans"/>
              <a:ea typeface="DM Sans"/>
              <a:cs typeface="DM Sans"/>
              <a:sym typeface="DM Sans"/>
            </a:endParaRPr>
          </a:p>
          <a:p>
            <a:pPr indent="0" lvl="0" marL="0" rtl="0" algn="l">
              <a:spcBef>
                <a:spcPts val="0"/>
              </a:spcBef>
              <a:spcAft>
                <a:spcPts val="0"/>
              </a:spcAft>
              <a:buNone/>
            </a:pPr>
            <a:r>
              <a:rPr lang="en" sz="1000">
                <a:solidFill>
                  <a:schemeClr val="dk1"/>
                </a:solidFill>
                <a:latin typeface="DM Sans"/>
                <a:ea typeface="DM Sans"/>
                <a:cs typeface="DM Sans"/>
                <a:sym typeface="DM Sans"/>
              </a:rPr>
              <a:t>A supplier that scores poorly on ESG represents an ethical concern, financial, and reputational liability. By integrating ESG criteria into sourcing decisions, companies can balance cost efficiency with long-term responsibility </a:t>
            </a:r>
            <a:endParaRPr sz="1000">
              <a:solidFill>
                <a:schemeClr val="dk1"/>
              </a:solidFill>
              <a:latin typeface="DM Sans"/>
              <a:ea typeface="DM Sans"/>
              <a:cs typeface="DM Sans"/>
              <a:sym typeface="DM Sans"/>
            </a:endParaRPr>
          </a:p>
        </p:txBody>
      </p:sp>
      <p:sp>
        <p:nvSpPr>
          <p:cNvPr id="548" name="Google Shape;548;p71"/>
          <p:cNvSpPr txBox="1"/>
          <p:nvPr/>
        </p:nvSpPr>
        <p:spPr>
          <a:xfrm>
            <a:off x="4810500" y="2652400"/>
            <a:ext cx="4070700" cy="206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Total Cost of Ownership</a:t>
            </a:r>
            <a:endParaRPr b="1" sz="1200">
              <a:solidFill>
                <a:schemeClr val="dk1"/>
              </a:solidFill>
              <a:latin typeface="DM Sans"/>
              <a:ea typeface="DM Sans"/>
              <a:cs typeface="DM Sans"/>
              <a:sym typeface="DM Sans"/>
            </a:endParaRPr>
          </a:p>
          <a:p>
            <a:pPr indent="0" lvl="0" marL="0" rtl="0" algn="l">
              <a:spcBef>
                <a:spcPts val="0"/>
              </a:spcBef>
              <a:spcAft>
                <a:spcPts val="0"/>
              </a:spcAft>
              <a:buNone/>
            </a:pPr>
            <a:r>
              <a:rPr b="1" lang="en" sz="1000">
                <a:solidFill>
                  <a:schemeClr val="dk1"/>
                </a:solidFill>
                <a:latin typeface="DM Sans"/>
                <a:ea typeface="DM Sans"/>
                <a:cs typeface="DM Sans"/>
                <a:sym typeface="DM Sans"/>
              </a:rPr>
              <a:t>True Cost | Risk | Responsibility</a:t>
            </a:r>
            <a:endParaRPr b="1" sz="1000">
              <a:solidFill>
                <a:schemeClr val="dk1"/>
              </a:solidFill>
              <a:latin typeface="DM Sans"/>
              <a:ea typeface="DM Sans"/>
              <a:cs typeface="DM Sans"/>
              <a:sym typeface="DM Sans"/>
            </a:endParaRPr>
          </a:p>
          <a:p>
            <a:pPr indent="0" lvl="0" marL="0" rtl="0" algn="l">
              <a:spcBef>
                <a:spcPts val="0"/>
              </a:spcBef>
              <a:spcAft>
                <a:spcPts val="0"/>
              </a:spcAft>
              <a:buNone/>
            </a:pPr>
            <a:r>
              <a:t/>
            </a:r>
            <a:endParaRPr sz="1000">
              <a:solidFill>
                <a:schemeClr val="dk1"/>
              </a:solidFill>
              <a:latin typeface="DM Sans"/>
              <a:ea typeface="DM Sans"/>
              <a:cs typeface="DM Sans"/>
              <a:sym typeface="DM Sans"/>
            </a:endParaRPr>
          </a:p>
          <a:p>
            <a:pPr indent="0" lvl="0" marL="0" rtl="0" algn="l">
              <a:spcBef>
                <a:spcPts val="0"/>
              </a:spcBef>
              <a:spcAft>
                <a:spcPts val="0"/>
              </a:spcAft>
              <a:buNone/>
            </a:pPr>
            <a:r>
              <a:rPr lang="en" sz="1000">
                <a:solidFill>
                  <a:schemeClr val="dk1"/>
                </a:solidFill>
                <a:latin typeface="DM Sans"/>
                <a:ea typeface="DM Sans"/>
                <a:cs typeface="DM Sans"/>
                <a:sym typeface="DM Sans"/>
              </a:rPr>
              <a:t>Evaluates the full cost of a sourcing decision, not just the initial purchase price, but every cost associated with a supplier or product over its entire lifecycle. TCO is directly relevant to social responsibility because what appears to be a low-cost supplier may carry significant hidden costs. A supplier offering lower wages or unsafe working conditions may seem cheaper upfront, but the risk of labor violations, public scandals, or regulatory penalties can far outweigh those savings. </a:t>
            </a:r>
            <a:endParaRPr sz="1000">
              <a:solidFill>
                <a:schemeClr val="dk1"/>
              </a:solidFill>
              <a:latin typeface="DM Sans"/>
              <a:ea typeface="DM Sans"/>
              <a:cs typeface="DM Sans"/>
              <a:sym typeface="DM Sans"/>
            </a:endParaRPr>
          </a:p>
          <a:p>
            <a:pPr indent="0" lvl="0" marL="0" rtl="0" algn="l">
              <a:spcBef>
                <a:spcPts val="0"/>
              </a:spcBef>
              <a:spcAft>
                <a:spcPts val="0"/>
              </a:spcAft>
              <a:buNone/>
            </a:pPr>
            <a:r>
              <a:t/>
            </a:r>
            <a:endParaRPr sz="1000">
              <a:solidFill>
                <a:schemeClr val="lt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2" name="Shape 552"/>
        <p:cNvGrpSpPr/>
        <p:nvPr/>
      </p:nvGrpSpPr>
      <p:grpSpPr>
        <a:xfrm>
          <a:off x="0" y="0"/>
          <a:ext cx="0" cy="0"/>
          <a:chOff x="0" y="0"/>
          <a:chExt cx="0" cy="0"/>
        </a:xfrm>
      </p:grpSpPr>
      <p:sp>
        <p:nvSpPr>
          <p:cNvPr id="553" name="Google Shape;553;p72"/>
          <p:cNvSpPr txBox="1"/>
          <p:nvPr>
            <p:ph type="title"/>
          </p:nvPr>
        </p:nvSpPr>
        <p:spPr>
          <a:xfrm>
            <a:off x="2456400" y="75450"/>
            <a:ext cx="4325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t>Balancing Social Responsibility and Cost: Nike</a:t>
            </a:r>
            <a:endParaRPr b="1" sz="1900"/>
          </a:p>
        </p:txBody>
      </p:sp>
      <p:sp>
        <p:nvSpPr>
          <p:cNvPr id="554" name="Google Shape;554;p72"/>
          <p:cNvSpPr txBox="1"/>
          <p:nvPr/>
        </p:nvSpPr>
        <p:spPr>
          <a:xfrm>
            <a:off x="218525" y="765675"/>
            <a:ext cx="3838200" cy="4153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rPr>
              <a:t>How Nike Balances CSR &amp; Supply Chain Cost</a:t>
            </a:r>
            <a:endParaRPr b="1" sz="800">
              <a:solidFill>
                <a:schemeClr val="dk1"/>
              </a:solidFill>
            </a:endParaRPr>
          </a:p>
          <a:p>
            <a:pPr indent="0" lvl="0" marL="0" rtl="0" algn="l">
              <a:lnSpc>
                <a:spcPct val="115000"/>
              </a:lnSpc>
              <a:spcBef>
                <a:spcPts val="800"/>
              </a:spcBef>
              <a:spcAft>
                <a:spcPts val="0"/>
              </a:spcAft>
              <a:buNone/>
            </a:pPr>
            <a:r>
              <a:rPr b="1" lang="en" sz="800">
                <a:solidFill>
                  <a:schemeClr val="dk1"/>
                </a:solidFill>
              </a:rPr>
              <a:t>Sustainable Sourcing → Cost Control</a:t>
            </a:r>
            <a:endParaRPr b="1" sz="800">
              <a:solidFill>
                <a:schemeClr val="dk1"/>
              </a:solidFill>
            </a:endParaRPr>
          </a:p>
          <a:p>
            <a:pPr indent="-279400" lvl="0" marL="457200" rtl="0" algn="l">
              <a:lnSpc>
                <a:spcPct val="115000"/>
              </a:lnSpc>
              <a:spcBef>
                <a:spcPts val="800"/>
              </a:spcBef>
              <a:spcAft>
                <a:spcPts val="0"/>
              </a:spcAft>
              <a:buClr>
                <a:schemeClr val="dk1"/>
              </a:buClr>
              <a:buSzPts val="800"/>
              <a:buFont typeface="DM Sans Light"/>
              <a:buChar char="●"/>
            </a:pPr>
            <a:r>
              <a:rPr lang="en" sz="800">
                <a:solidFill>
                  <a:schemeClr val="dk1"/>
                </a:solidFill>
              </a:rPr>
              <a:t>Uses recycled inputs (e.g., Fly Leather, scrap materials)</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DM Sans Light"/>
              <a:buChar char="●"/>
            </a:pPr>
            <a:r>
              <a:rPr lang="en" sz="800">
                <a:solidFill>
                  <a:schemeClr val="dk1"/>
                </a:solidFill>
              </a:rPr>
              <a:t>Reduces raw material procurement costs and dependency on new inputs</a:t>
            </a:r>
            <a:endParaRPr sz="800">
              <a:solidFill>
                <a:schemeClr val="dk1"/>
              </a:solidFill>
            </a:endParaRPr>
          </a:p>
          <a:p>
            <a:pPr indent="0" lvl="0" marL="0" rtl="0" algn="l">
              <a:lnSpc>
                <a:spcPct val="115000"/>
              </a:lnSpc>
              <a:spcBef>
                <a:spcPts val="800"/>
              </a:spcBef>
              <a:spcAft>
                <a:spcPts val="0"/>
              </a:spcAft>
              <a:buNone/>
            </a:pPr>
            <a:r>
              <a:rPr b="1" lang="en" sz="800">
                <a:solidFill>
                  <a:schemeClr val="dk1"/>
                </a:solidFill>
              </a:rPr>
              <a:t>Lean Manufacturing &amp; Waste Minimization</a:t>
            </a:r>
            <a:endParaRPr b="1" sz="800">
              <a:solidFill>
                <a:schemeClr val="dk1"/>
              </a:solidFill>
            </a:endParaRPr>
          </a:p>
          <a:p>
            <a:pPr indent="-279400" lvl="0" marL="457200" rtl="0" algn="l">
              <a:lnSpc>
                <a:spcPct val="115000"/>
              </a:lnSpc>
              <a:spcBef>
                <a:spcPts val="800"/>
              </a:spcBef>
              <a:spcAft>
                <a:spcPts val="0"/>
              </a:spcAft>
              <a:buClr>
                <a:schemeClr val="dk1"/>
              </a:buClr>
              <a:buSzPts val="800"/>
              <a:buFont typeface="Arial"/>
              <a:buChar char="●"/>
            </a:pPr>
            <a:r>
              <a:rPr lang="en" sz="800">
                <a:solidFill>
                  <a:schemeClr val="dk1"/>
                </a:solidFill>
              </a:rPr>
              <a:t>Reused 54M pounds of production scrap</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Improves process efficiency and reduces manufacturing waste costs</a:t>
            </a:r>
            <a:endParaRPr sz="800">
              <a:solidFill>
                <a:schemeClr val="dk1"/>
              </a:solidFill>
            </a:endParaRPr>
          </a:p>
          <a:p>
            <a:pPr indent="0" lvl="0" marL="0" rtl="0" algn="l">
              <a:lnSpc>
                <a:spcPct val="115000"/>
              </a:lnSpc>
              <a:spcBef>
                <a:spcPts val="800"/>
              </a:spcBef>
              <a:spcAft>
                <a:spcPts val="0"/>
              </a:spcAft>
              <a:buNone/>
            </a:pPr>
            <a:r>
              <a:rPr b="1" lang="en" sz="800">
                <a:solidFill>
                  <a:schemeClr val="dk1"/>
                </a:solidFill>
              </a:rPr>
              <a:t>Water &amp; Resource Optimization</a:t>
            </a:r>
            <a:endParaRPr b="1" sz="800">
              <a:solidFill>
                <a:schemeClr val="dk1"/>
              </a:solidFill>
            </a:endParaRPr>
          </a:p>
          <a:p>
            <a:pPr indent="-279400" lvl="0" marL="457200" rtl="0" algn="l">
              <a:lnSpc>
                <a:spcPct val="115000"/>
              </a:lnSpc>
              <a:spcBef>
                <a:spcPts val="800"/>
              </a:spcBef>
              <a:spcAft>
                <a:spcPts val="0"/>
              </a:spcAft>
              <a:buClr>
                <a:schemeClr val="dk1"/>
              </a:buClr>
              <a:buSzPts val="800"/>
              <a:buFont typeface="Arial"/>
              <a:buChar char="●"/>
            </a:pPr>
            <a:r>
              <a:rPr lang="en" sz="800">
                <a:solidFill>
                  <a:schemeClr val="dk1"/>
                </a:solidFill>
              </a:rPr>
              <a:t>Reduced water usage by 43% in production</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Implemented ColorDry (waterless dyeing technology)</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Lowers utility costs and resource dependency</a:t>
            </a:r>
            <a:endParaRPr sz="800">
              <a:solidFill>
                <a:schemeClr val="dk1"/>
              </a:solidFill>
            </a:endParaRPr>
          </a:p>
          <a:p>
            <a:pPr indent="0" lvl="0" marL="0" rtl="0" algn="l">
              <a:lnSpc>
                <a:spcPct val="115000"/>
              </a:lnSpc>
              <a:spcBef>
                <a:spcPts val="800"/>
              </a:spcBef>
              <a:spcAft>
                <a:spcPts val="0"/>
              </a:spcAft>
              <a:buNone/>
            </a:pPr>
            <a:r>
              <a:rPr b="1" lang="en" sz="800">
                <a:solidFill>
                  <a:schemeClr val="dk1"/>
                </a:solidFill>
              </a:rPr>
              <a:t>Supplier Monitoring &amp; Compliance (SMSI)</a:t>
            </a:r>
            <a:endParaRPr b="1" sz="800">
              <a:solidFill>
                <a:schemeClr val="dk1"/>
              </a:solidFill>
            </a:endParaRPr>
          </a:p>
          <a:p>
            <a:pPr indent="-279400" lvl="0" marL="457200" rtl="0" algn="l">
              <a:lnSpc>
                <a:spcPct val="115000"/>
              </a:lnSpc>
              <a:spcBef>
                <a:spcPts val="800"/>
              </a:spcBef>
              <a:spcAft>
                <a:spcPts val="0"/>
              </a:spcAft>
              <a:buClr>
                <a:schemeClr val="dk1"/>
              </a:buClr>
              <a:buSzPts val="800"/>
              <a:buFont typeface="Arial"/>
              <a:buChar char="●"/>
            </a:pPr>
            <a:r>
              <a:rPr lang="en" sz="800">
                <a:solidFill>
                  <a:schemeClr val="dk1"/>
                </a:solidFill>
              </a:rPr>
              <a:t>Evaluates factories on ESG metrics (health, safety, environment)</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Improves supplier reliability and reduces disruption risk</a:t>
            </a:r>
            <a:endParaRPr sz="800">
              <a:solidFill>
                <a:schemeClr val="dk1"/>
              </a:solidFill>
            </a:endParaRPr>
          </a:p>
          <a:p>
            <a:pPr indent="0" lvl="0" marL="0" rtl="0" algn="l">
              <a:lnSpc>
                <a:spcPct val="115000"/>
              </a:lnSpc>
              <a:spcBef>
                <a:spcPts val="800"/>
              </a:spcBef>
              <a:spcAft>
                <a:spcPts val="0"/>
              </a:spcAft>
              <a:buNone/>
            </a:pPr>
            <a:r>
              <a:rPr b="1" lang="en" sz="800">
                <a:solidFill>
                  <a:schemeClr val="dk1"/>
                </a:solidFill>
              </a:rPr>
              <a:t>Closed-Loop Supply Chain (Circular Model)</a:t>
            </a:r>
            <a:endParaRPr b="1" sz="800">
              <a:solidFill>
                <a:schemeClr val="dk1"/>
              </a:solidFill>
            </a:endParaRPr>
          </a:p>
          <a:p>
            <a:pPr indent="-279400" lvl="0" marL="457200" rtl="0" algn="l">
              <a:lnSpc>
                <a:spcPct val="115000"/>
              </a:lnSpc>
              <a:spcBef>
                <a:spcPts val="800"/>
              </a:spcBef>
              <a:spcAft>
                <a:spcPts val="0"/>
              </a:spcAft>
              <a:buClr>
                <a:schemeClr val="dk1"/>
              </a:buClr>
              <a:buSzPts val="800"/>
              <a:buFont typeface="Arial"/>
              <a:buChar char="●"/>
            </a:pPr>
            <a:r>
              <a:rPr lang="en" sz="800">
                <a:solidFill>
                  <a:schemeClr val="dk1"/>
                </a:solidFill>
              </a:rPr>
              <a:t>Recycled materials back into production</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Reduces inventory waste, disposal costs, and procurement needs</a:t>
            </a:r>
            <a:endParaRPr sz="800">
              <a:solidFill>
                <a:schemeClr val="dk1"/>
              </a:solidFill>
            </a:endParaRPr>
          </a:p>
          <a:p>
            <a:pPr indent="0" lvl="0" marL="0" rtl="0" algn="l">
              <a:lnSpc>
                <a:spcPct val="115000"/>
              </a:lnSpc>
              <a:spcBef>
                <a:spcPts val="800"/>
              </a:spcBef>
              <a:spcAft>
                <a:spcPts val="800"/>
              </a:spcAft>
              <a:buNone/>
            </a:pPr>
            <a:r>
              <a:t/>
            </a:r>
            <a:endParaRPr b="1" sz="800">
              <a:solidFill>
                <a:schemeClr val="dk1"/>
              </a:solidFill>
            </a:endParaRPr>
          </a:p>
        </p:txBody>
      </p:sp>
      <p:sp>
        <p:nvSpPr>
          <p:cNvPr id="555" name="Google Shape;555;p72"/>
          <p:cNvSpPr txBox="1"/>
          <p:nvPr/>
        </p:nvSpPr>
        <p:spPr>
          <a:xfrm>
            <a:off x="5025750" y="799825"/>
            <a:ext cx="3366300" cy="1196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dk1"/>
                </a:solidFill>
              </a:rPr>
              <a:t>Impact</a:t>
            </a:r>
            <a:endParaRPr b="1" sz="800">
              <a:solidFill>
                <a:schemeClr val="dk1"/>
              </a:solidFill>
            </a:endParaRPr>
          </a:p>
          <a:p>
            <a:pPr indent="-279400" lvl="0" marL="457200" rtl="0" algn="l">
              <a:lnSpc>
                <a:spcPct val="115000"/>
              </a:lnSpc>
              <a:spcBef>
                <a:spcPts val="800"/>
              </a:spcBef>
              <a:spcAft>
                <a:spcPts val="0"/>
              </a:spcAft>
              <a:buClr>
                <a:schemeClr val="dk1"/>
              </a:buClr>
              <a:buSzPts val="800"/>
              <a:buFont typeface="Arial"/>
              <a:buChar char="●"/>
            </a:pPr>
            <a:r>
              <a:rPr lang="en" sz="800">
                <a:solidFill>
                  <a:schemeClr val="dk1"/>
                </a:solidFill>
              </a:rPr>
              <a:t>Improved operational efficiency across the value chain</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Lower total cost of ownership (TCO)</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Reduced supply chain risk and variability</a:t>
            </a:r>
            <a:endParaRPr sz="800">
              <a:solidFill>
                <a:schemeClr val="dk1"/>
              </a:solidFill>
            </a:endParaRPr>
          </a:p>
          <a:p>
            <a:pPr indent="-279400" lvl="0" marL="457200" rtl="0" algn="l">
              <a:lnSpc>
                <a:spcPct val="115000"/>
              </a:lnSpc>
              <a:spcBef>
                <a:spcPts val="0"/>
              </a:spcBef>
              <a:spcAft>
                <a:spcPts val="0"/>
              </a:spcAft>
              <a:buClr>
                <a:schemeClr val="dk1"/>
              </a:buClr>
              <a:buSzPts val="800"/>
              <a:buFont typeface="Arial"/>
              <a:buChar char="●"/>
            </a:pPr>
            <a:r>
              <a:rPr lang="en" sz="800">
                <a:solidFill>
                  <a:schemeClr val="dk1"/>
                </a:solidFill>
              </a:rPr>
              <a:t>Stronger supplier relationships and performance consistency</a:t>
            </a:r>
            <a:endParaRPr sz="1200">
              <a:solidFill>
                <a:schemeClr val="lt1"/>
              </a:solidFill>
              <a:latin typeface="DM Sans"/>
              <a:ea typeface="DM Sans"/>
              <a:cs typeface="DM Sans"/>
              <a:sym typeface="DM Sans"/>
            </a:endParaRPr>
          </a:p>
        </p:txBody>
      </p:sp>
      <p:pic>
        <p:nvPicPr>
          <p:cNvPr id="556" name="Google Shape;556;p72" title="Nike.jpg"/>
          <p:cNvPicPr preferRelativeResize="0"/>
          <p:nvPr/>
        </p:nvPicPr>
        <p:blipFill>
          <a:blip r:embed="rId3">
            <a:alphaModFix/>
          </a:blip>
          <a:stretch>
            <a:fillRect/>
          </a:stretch>
        </p:blipFill>
        <p:spPr>
          <a:xfrm>
            <a:off x="4553850" y="2132600"/>
            <a:ext cx="3838200" cy="2706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3"/>
          <p:cNvSpPr txBox="1"/>
          <p:nvPr>
            <p:ph type="title"/>
          </p:nvPr>
        </p:nvSpPr>
        <p:spPr>
          <a:xfrm>
            <a:off x="361975" y="923525"/>
            <a:ext cx="3860100" cy="587700"/>
          </a:xfrm>
          <a:prstGeom prst="rect">
            <a:avLst/>
          </a:prstGeom>
          <a:solidFill>
            <a:schemeClr val="lt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2200"/>
              <a:t>Balancing Social Responsibility and Cost: Unilever</a:t>
            </a:r>
            <a:endParaRPr sz="1900"/>
          </a:p>
        </p:txBody>
      </p:sp>
      <p:sp>
        <p:nvSpPr>
          <p:cNvPr id="562" name="Google Shape;562;p73"/>
          <p:cNvSpPr txBox="1"/>
          <p:nvPr/>
        </p:nvSpPr>
        <p:spPr>
          <a:xfrm>
            <a:off x="228325" y="851075"/>
            <a:ext cx="4127400" cy="4206900"/>
          </a:xfrm>
          <a:prstGeom prst="rect">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900">
                <a:solidFill>
                  <a:schemeClr val="dk1"/>
                </a:solidFill>
              </a:rPr>
              <a:t>Triple Bottom Line Approach → People, Planet, Profit</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People (Social Responsibility) → Supply Chain Ethics</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Ensures fair labor practices and safe working conditions for suppliers</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lang="en" sz="900">
                <a:solidFill>
                  <a:schemeClr val="dk1"/>
                </a:solidFill>
              </a:rPr>
              <a:t>Improves livelihoods and strengthens supplier relationships</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lang="en" sz="900">
                <a:solidFill>
                  <a:schemeClr val="dk1"/>
                </a:solidFill>
              </a:rPr>
              <a:t>Reduces legal risks and supply chain disruptions</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Planet (Environmental Responsibility) → Sustainability</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Uses responsibly sourced materials like palm oil</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lang="en" sz="900">
                <a:solidFill>
                  <a:schemeClr val="dk1"/>
                </a:solidFill>
              </a:rPr>
              <a:t>Adopts greener logistics and reduces emissions</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lang="en" sz="900">
                <a:solidFill>
                  <a:schemeClr val="dk1"/>
                </a:solidFill>
              </a:rPr>
              <a:t>Minimizes plastic use and environmental impact</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Profit (Cost Efficiency) → Business Performance</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Reduces material, fuel, and operational costs through sustainability</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lang="en" sz="900">
                <a:solidFill>
                  <a:schemeClr val="dk1"/>
                </a:solidFill>
              </a:rPr>
              <a:t>Improves efficiency and resource utilization</a:t>
            </a:r>
            <a:endParaRPr sz="900">
              <a:solidFill>
                <a:schemeClr val="dk1"/>
              </a:solidFill>
            </a:endParaRPr>
          </a:p>
          <a:p>
            <a:pPr indent="-285750" lvl="0" marL="457200" rtl="0" algn="l">
              <a:lnSpc>
                <a:spcPct val="100000"/>
              </a:lnSpc>
              <a:spcBef>
                <a:spcPts val="0"/>
              </a:spcBef>
              <a:spcAft>
                <a:spcPts val="0"/>
              </a:spcAft>
              <a:buClr>
                <a:schemeClr val="dk1"/>
              </a:buClr>
              <a:buSzPts val="900"/>
              <a:buChar char="●"/>
            </a:pPr>
            <a:r>
              <a:rPr lang="en" sz="900">
                <a:solidFill>
                  <a:schemeClr val="dk1"/>
                </a:solidFill>
              </a:rPr>
              <a:t>Supports long-term profitability and supply chain stability</a:t>
            </a:r>
            <a:endParaRPr sz="900">
              <a:solidFill>
                <a:schemeClr val="dk1"/>
              </a:solidFill>
            </a:endParaRPr>
          </a:p>
          <a:p>
            <a:pPr indent="0" lvl="0" marL="0" rtl="0" algn="l">
              <a:lnSpc>
                <a:spcPct val="115000"/>
              </a:lnSpc>
              <a:spcBef>
                <a:spcPts val="1200"/>
              </a:spcBef>
              <a:spcAft>
                <a:spcPts val="0"/>
              </a:spcAft>
              <a:buNone/>
            </a:pPr>
            <a:r>
              <a:rPr b="1" lang="en" sz="900">
                <a:solidFill>
                  <a:schemeClr val="dk1"/>
                </a:solidFill>
              </a:rPr>
              <a:t>Impact</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Balanced focus on </a:t>
            </a:r>
            <a:r>
              <a:rPr b="1" lang="en" sz="900">
                <a:solidFill>
                  <a:schemeClr val="dk1"/>
                </a:solidFill>
              </a:rPr>
              <a:t>people, planet, and profit</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Lower total supply chain cost (TCO)</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Reduced environmental footprint</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More ethical and resilient supply chain</a:t>
            </a:r>
            <a:endParaRPr b="1" sz="900">
              <a:solidFill>
                <a:schemeClr val="dk1"/>
              </a:solidFill>
            </a:endParaRPr>
          </a:p>
          <a:p>
            <a:pPr indent="0" lvl="0" marL="0" rtl="0" algn="l">
              <a:lnSpc>
                <a:spcPct val="115000"/>
              </a:lnSpc>
              <a:spcBef>
                <a:spcPts val="1200"/>
              </a:spcBef>
              <a:spcAft>
                <a:spcPts val="0"/>
              </a:spcAft>
              <a:buNone/>
            </a:pPr>
            <a:r>
              <a:t/>
            </a:r>
            <a:endParaRPr b="1" sz="800">
              <a:solidFill>
                <a:schemeClr val="dk1"/>
              </a:solidFill>
            </a:endParaRPr>
          </a:p>
          <a:p>
            <a:pPr indent="0" lvl="0" marL="0" rtl="0" algn="l">
              <a:lnSpc>
                <a:spcPct val="115000"/>
              </a:lnSpc>
              <a:spcBef>
                <a:spcPts val="800"/>
              </a:spcBef>
              <a:spcAft>
                <a:spcPts val="800"/>
              </a:spcAft>
              <a:buNone/>
            </a:pPr>
            <a:r>
              <a:t/>
            </a:r>
            <a:endParaRPr b="1" sz="800">
              <a:solidFill>
                <a:schemeClr val="dk1"/>
              </a:solidFill>
            </a:endParaRPr>
          </a:p>
        </p:txBody>
      </p:sp>
      <p:pic>
        <p:nvPicPr>
          <p:cNvPr id="563" name="Google Shape;563;p73" title="1763297902124.jpg"/>
          <p:cNvPicPr preferRelativeResize="0"/>
          <p:nvPr>
            <p:ph idx="2" type="pic"/>
          </p:nvPr>
        </p:nvPicPr>
        <p:blipFill>
          <a:blip r:embed="rId3">
            <a:alphaModFix/>
          </a:blip>
          <a:stretch>
            <a:fillRect/>
          </a:stretch>
        </p:blipFill>
        <p:spPr>
          <a:xfrm>
            <a:off x="4885748" y="0"/>
            <a:ext cx="4258252" cy="5143500"/>
          </a:xfrm>
          <a:prstGeom prst="rect">
            <a:avLst/>
          </a:prstGeom>
        </p:spPr>
      </p:pic>
      <p:sp>
        <p:nvSpPr>
          <p:cNvPr id="564" name="Google Shape;564;p73"/>
          <p:cNvSpPr txBox="1"/>
          <p:nvPr/>
        </p:nvSpPr>
        <p:spPr>
          <a:xfrm>
            <a:off x="20125" y="55125"/>
            <a:ext cx="4543800" cy="8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latin typeface="Newsreader"/>
                <a:ea typeface="Newsreader"/>
                <a:cs typeface="Newsreader"/>
                <a:sym typeface="Newsreader"/>
              </a:rPr>
              <a:t> Balancing Social Responsibility and Cost: Unilever</a:t>
            </a:r>
            <a:endParaRPr b="1" sz="1200">
              <a:solidFill>
                <a:schemeClr val="lt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4"/>
          <p:cNvSpPr txBox="1"/>
          <p:nvPr>
            <p:ph type="title"/>
          </p:nvPr>
        </p:nvSpPr>
        <p:spPr>
          <a:xfrm>
            <a:off x="102900" y="201775"/>
            <a:ext cx="4763700" cy="587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1900"/>
              <a:t>S</a:t>
            </a:r>
            <a:r>
              <a:rPr b="1" lang="en" sz="1900"/>
              <a:t>trategies for Achieving Ethical and Cost-Efficient Supply Chains</a:t>
            </a:r>
            <a:endParaRPr b="1" sz="1900"/>
          </a:p>
          <a:p>
            <a:pPr indent="0" lvl="0" marL="0" rtl="0" algn="ctr">
              <a:spcBef>
                <a:spcPts val="0"/>
              </a:spcBef>
              <a:spcAft>
                <a:spcPts val="0"/>
              </a:spcAft>
              <a:buNone/>
            </a:pPr>
            <a:r>
              <a:t/>
            </a:r>
            <a:endParaRPr b="1" sz="1900"/>
          </a:p>
        </p:txBody>
      </p:sp>
      <p:sp>
        <p:nvSpPr>
          <p:cNvPr id="570" name="Google Shape;570;p74"/>
          <p:cNvSpPr txBox="1"/>
          <p:nvPr/>
        </p:nvSpPr>
        <p:spPr>
          <a:xfrm>
            <a:off x="224850" y="789475"/>
            <a:ext cx="4209900" cy="41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Strategies:</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rPr>
              <a:t>Focus on nearshoring </a:t>
            </a:r>
            <a:endParaRPr b="1">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Decrease </a:t>
            </a:r>
            <a:r>
              <a:rPr lang="en">
                <a:solidFill>
                  <a:schemeClr val="dk1"/>
                </a:solidFill>
              </a:rPr>
              <a:t>delivery charge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Better quality product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Takes away language barrier</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rPr>
              <a:t>Focus on Sustainability </a:t>
            </a:r>
            <a:endParaRPr b="1">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Using recycled materials would decrease cost.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Improves the environment </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rPr>
              <a:t>Focus on Long-Term Supplier Relationships</a:t>
            </a:r>
            <a:endParaRPr b="1">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Possible discounts and lower prices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Set working standards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Easier to monitor progress </a:t>
            </a:r>
            <a:endParaRPr>
              <a:solidFill>
                <a:schemeClr val="dk1"/>
              </a:solidFill>
            </a:endParaRPr>
          </a:p>
          <a:p>
            <a:pPr indent="0" lvl="0" marL="0" rtl="0" algn="l">
              <a:spcBef>
                <a:spcPts val="0"/>
              </a:spcBef>
              <a:spcAft>
                <a:spcPts val="0"/>
              </a:spcAft>
              <a:buNone/>
            </a:pPr>
            <a:r>
              <a:t/>
            </a:r>
            <a:endParaRPr>
              <a:solidFill>
                <a:schemeClr val="dk1"/>
              </a:solidFill>
            </a:endParaRPr>
          </a:p>
        </p:txBody>
      </p:sp>
      <p:pic>
        <p:nvPicPr>
          <p:cNvPr id="571" name="Google Shape;571;p74"/>
          <p:cNvPicPr preferRelativeResize="0"/>
          <p:nvPr/>
        </p:nvPicPr>
        <p:blipFill>
          <a:blip r:embed="rId3">
            <a:alphaModFix/>
          </a:blip>
          <a:stretch>
            <a:fillRect/>
          </a:stretch>
        </p:blipFill>
        <p:spPr>
          <a:xfrm>
            <a:off x="4614825" y="1000995"/>
            <a:ext cx="4375950" cy="314150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